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4600" b="1">
                <a:solidFill>
                  <a:srgbClr val="1B1F24"/>
                </a:solidFill>
                <a:latin typeface="Yu Gothic"/>
              </a:rPr>
              <a:t>主治医意見書の読み取り</a:t>
            </a:r>
          </a:p>
          <a:p>
            <a:pPr algn="l">
              <a:spcBef>
                <a:spcPts val="1400"/>
              </a:spcBef>
            </a:pPr>
            <a:r>
              <a:rPr sz="2800" b="0">
                <a:solidFill>
                  <a:srgbClr val="5B636E"/>
                </a:solidFill>
                <a:latin typeface="Yu Gothic"/>
              </a:rPr>
              <a:t>これまでの経過と、測った精度</a:t>
            </a:r>
          </a:p>
          <a:p>
            <a:pPr algn="l">
              <a:spcBef>
                <a:spcPts val="2000"/>
              </a:spcBef>
            </a:pPr>
            <a:r>
              <a:rPr sz="2000" b="0">
                <a:solidFill>
                  <a:srgbClr val="5B636E"/>
                </a:solidFill>
                <a:latin typeface="Yu Gothic"/>
              </a:rPr>
              <a:t>2026-09-06 〜 2026-09-23　コミット 83 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1206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>
                <a:solidFill>
                  <a:srgbClr val="5B636E"/>
                </a:solidFill>
                <a:latin typeface="Yu Gothic"/>
              </a:rPr>
              <a:t>数字はすべて正解データでの実測値です。どの正解データで測ったかを必ず添えています。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800" b="1">
                <a:solidFill>
                  <a:srgbClr val="1B1F24"/>
                </a:solidFill>
                <a:latin typeface="Yu Gothic"/>
              </a:rPr>
              <a:t>何を作ったか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5B636E"/>
                </a:solidFill>
                <a:latin typeface="Yu Gothic"/>
              </a:rPr>
              <a:t>紙の主治医意見書を読み取り、確認して、データにする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72768"/>
            <a:ext cx="11064240" cy="18288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2200" b="1">
                <a:solidFill>
                  <a:srgbClr val="1B1F24"/>
                </a:solidFill>
                <a:latin typeface="Yu Gothic"/>
              </a:rPr>
              <a:t>・チェック欄186個は、画像処理で読む</a:t>
            </a:r>
          </a:p>
          <a:p>
            <a:pPr algn="l">
              <a:spcBef>
                <a:spcPts val="300"/>
              </a:spcBef>
            </a:pPr>
            <a:r>
              <a:rPr sz="1700" b="0">
                <a:solidFill>
                  <a:srgbClr val="5B636E"/>
                </a:solidFill>
                <a:latin typeface="Yu Gothic"/>
              </a:rPr>
              <a:t>　　白紙の様式との差分を取ると、枠線もラベルも消えて「書いた印」だけが残る</a:t>
            </a:r>
          </a:p>
          <a:p>
            <a:pPr algn="l">
              <a:spcBef>
                <a:spcPts val="1400"/>
              </a:spcBef>
            </a:pPr>
            <a:r>
              <a:rPr sz="2200" b="1">
                <a:solidFill>
                  <a:srgbClr val="1B1F24"/>
                </a:solidFill>
                <a:latin typeface="Yu Gothic"/>
              </a:rPr>
              <a:t>・文字欄52個だけ、OCRに任せる</a:t>
            </a:r>
          </a:p>
          <a:p>
            <a:pPr algn="l">
              <a:spcBef>
                <a:spcPts val="300"/>
              </a:spcBef>
            </a:pPr>
            <a:r>
              <a:rPr sz="1700" b="0">
                <a:solidFill>
                  <a:srgbClr val="5B636E"/>
                </a:solidFill>
                <a:latin typeface="Yu Gothic"/>
              </a:rPr>
              <a:t>　　項目107個のうち大半がチェック欄。そこを確実に取るのが精度の要</a:t>
            </a:r>
          </a:p>
          <a:p>
            <a:pPr algn="l">
              <a:spcBef>
                <a:spcPts val="1400"/>
              </a:spcBef>
            </a:pPr>
            <a:r>
              <a:rPr sz="2200" b="1">
                <a:solidFill>
                  <a:srgbClr val="1B1F24"/>
                </a:solidFill>
                <a:latin typeface="Yu Gothic"/>
              </a:rPr>
              <a:t>・読んだ値は必ず人が確認する前提で作る</a:t>
            </a:r>
          </a:p>
          <a:p>
            <a:pPr algn="l">
              <a:spcBef>
                <a:spcPts val="300"/>
              </a:spcBef>
            </a:pPr>
            <a:r>
              <a:rPr sz="1700" b="0">
                <a:solidFill>
                  <a:srgbClr val="5B636E"/>
                </a:solidFill>
                <a:latin typeface="Yu Gothic"/>
              </a:rPr>
              <a:t>　　確信度で色分けし、要確認だけを絞り込め、該当箇所を原本で拡大できる</a:t>
            </a:r>
          </a:p>
          <a:p>
            <a:pPr algn="l">
              <a:spcBef>
                <a:spcPts val="1400"/>
              </a:spcBef>
            </a:pPr>
            <a:r>
              <a:rPr sz="2200" b="1">
                <a:solidFill>
                  <a:srgbClr val="1B1F24"/>
                </a:solidFill>
                <a:latin typeface="Yu Gothic"/>
              </a:rPr>
              <a:t>・ブラウザだけで動く（データを外に出さない）</a:t>
            </a:r>
          </a:p>
          <a:p>
            <a:pPr algn="l">
              <a:spcBef>
                <a:spcPts val="300"/>
              </a:spcBef>
            </a:pPr>
            <a:r>
              <a:rPr sz="1700" b="0">
                <a:solidFill>
                  <a:srgbClr val="5B636E"/>
                </a:solidFill>
                <a:latin typeface="Yu Gothic"/>
              </a:rPr>
              <a:t>　　Python版・単一HTMLファイル版も用意。オフラインで動く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800" b="1">
                <a:solidFill>
                  <a:srgbClr val="1B1F24"/>
                </a:solidFill>
                <a:latin typeface="Yu Gothic"/>
              </a:rPr>
              <a:t>これまでの経過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5B636E"/>
                </a:solidFill>
                <a:latin typeface="Yu Gothic"/>
              </a:rPr>
              <a:t>大きな節目だけ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72768"/>
            <a:ext cx="11064240" cy="18288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28800"/>
          <a:ext cx="109728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486400"/>
                <a:gridCol w="4114800"/>
              </a:tblGrid>
              <a:tr h="39711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時期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やったこと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そのときの結果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</a:tr>
              <a:tr h="3971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9月上旬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様式定義・テンプレート・読み取りの土台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チェック欄の検出率 99.5%（正解ラベル無し）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71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9月中旬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正解データ（100通）をいただき、初めて数値で測れるようになった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チェック欄 95.47%。誤検出が785件あると判明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971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/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判定を書き方ごとに作り直した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95.47% → 99.08%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71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/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文字欄・日付も測り、弱い欄を個別に直した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文字 84.3% → 88.4%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971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9月下旬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新しい検証データ（1,000通）で測り直した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枠単位 89.36%。汚いスキャンで崩れると判明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711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/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出力を整理（JSON・CSV・Markdown）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答えの読み方を1か所に統一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>
                <a:solidFill>
                  <a:srgbClr val="5B636E"/>
                </a:solidFill>
                <a:latin typeface="Yu Gothic"/>
              </a:rPr>
              <a:t>「測れるようになってから直す」を守っています。目で見た比較では、あとで誤りだったと分かったものが複数ありました。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800" b="1">
                <a:solidFill>
                  <a:srgbClr val="1B1F24"/>
                </a:solidFill>
                <a:latin typeface="Yu Gothic"/>
              </a:rPr>
              <a:t>精度① チェック欄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5B636E"/>
                </a:solidFill>
                <a:latin typeface="Yu Gothic"/>
              </a:rPr>
              <a:t>正解データ100通・□ 18,600枠・□ひとつを1件として数えた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72768"/>
            <a:ext cx="11064240" cy="18288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28800"/>
          <a:ext cx="10972799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2011680"/>
                <a:gridCol w="2011680"/>
                <a:gridCol w="2560319"/>
              </a:tblGrid>
              <a:tr h="4145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/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正解率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見落とし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誤検出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Yu Gothic"/>
                        </a:rPr>
                        <a:t>二重線を消せた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B1F24"/>
                          </a:solidFill>
                          <a:latin typeface="Yu Gothic"/>
                        </a:rPr>
                        <a:t>作り直す前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B1F24"/>
                          </a:solidFill>
                          <a:latin typeface="Yu Gothic"/>
                        </a:rPr>
                        <a:t>95.47 %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B1F24"/>
                          </a:solidFill>
                          <a:latin typeface="Yu Gothic"/>
                        </a:rPr>
                        <a:t>11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B1F24"/>
                          </a:solidFill>
                          <a:latin typeface="Yu Gothic"/>
                        </a:rPr>
                        <a:t>785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B1F24"/>
                          </a:solidFill>
                          <a:latin typeface="Yu Gothic"/>
                        </a:rPr>
                        <a:t>0 / 47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B1F24"/>
                          </a:solidFill>
                          <a:latin typeface="Yu Gothic"/>
                        </a:rPr>
                        <a:t>いま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7F4B"/>
                          </a:solidFill>
                          <a:latin typeface="Yu Gothic"/>
                        </a:rPr>
                        <a:t>99.08 %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7F4B"/>
                          </a:solidFill>
                          <a:latin typeface="Yu Gothic"/>
                        </a:rPr>
                        <a:t>46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7F4B"/>
                          </a:solidFill>
                          <a:latin typeface="Yu Gothic"/>
                        </a:rPr>
                        <a:t>117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7F4B"/>
                          </a:solidFill>
                          <a:latin typeface="Yu Gothic"/>
                        </a:rPr>
                        <a:t>39 / 47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749039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2200" b="1">
                <a:solidFill>
                  <a:srgbClr val="1B1F24"/>
                </a:solidFill>
                <a:latin typeface="Yu Gothic"/>
              </a:rPr>
              <a:t>・誤検出785件は、すべて枠の中にインクが無かった</a:t>
            </a:r>
          </a:p>
          <a:p>
            <a:pPr algn="l">
              <a:spcBef>
                <a:spcPts val="300"/>
              </a:spcBef>
            </a:pPr>
            <a:r>
              <a:rPr sz="1700" b="0">
                <a:solidFill>
                  <a:srgbClr val="5B636E"/>
                </a:solidFill>
                <a:latin typeface="Yu Gothic"/>
              </a:rPr>
              <a:t>　　1つの広い窓で測っていたため、隣の欄の手書きを拾っていた</a:t>
            </a:r>
          </a:p>
          <a:p>
            <a:pPr algn="l">
              <a:spcBef>
                <a:spcPts val="1400"/>
              </a:spcBef>
            </a:pPr>
            <a:r>
              <a:rPr sz="2200" b="1">
                <a:solidFill>
                  <a:srgbClr val="1B1F24"/>
                </a:solidFill>
                <a:latin typeface="Yu Gothic"/>
              </a:rPr>
              <a:t>・書き方ごとに、見る場所を分けた</a:t>
            </a:r>
          </a:p>
          <a:p>
            <a:pPr algn="l">
              <a:spcBef>
                <a:spcPts val="300"/>
              </a:spcBef>
            </a:pPr>
            <a:r>
              <a:rPr sz="1700" b="0">
                <a:solidFill>
                  <a:srgbClr val="5B636E"/>
                </a:solidFill>
                <a:latin typeface="Yu Gothic"/>
              </a:rPr>
              <a:t>　　枠の内側／枠の外周（丸囲み）／枠の右下（枠外へのはみ出し）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800" b="1">
                <a:solidFill>
                  <a:srgbClr val="1B1F24"/>
                </a:solidFill>
                <a:latin typeface="Yu Gothic"/>
              </a:rPr>
              <a:t>精度② 印の書き方ごと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5B636E"/>
                </a:solidFill>
                <a:latin typeface="Yu Gothic"/>
              </a:rPr>
              <a:t>同じ100通。書き方は13通り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72768"/>
            <a:ext cx="11064240" cy="18288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28800"/>
          <a:ext cx="1097280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743200"/>
                <a:gridCol w="2743200"/>
              </a:tblGrid>
              <a:tr h="39547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印の書き方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正解率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件数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レ点 / ■ / ×印 / 薄い点 / レ(活字)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7F4B"/>
                          </a:solidFill>
                          <a:latin typeface="Yu Gothic"/>
                        </a:rPr>
                        <a:t>100 %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1,546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チェック ✓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7F4B"/>
                          </a:solidFill>
                          <a:latin typeface="Yu Gothic"/>
                        </a:rPr>
                        <a:t>99.20 %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249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斜め線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97.96 %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49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塗りつぶし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97.43 %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272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丸囲み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97.27 %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183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二重線で訂正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82.98 %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47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枠外にはみ出した印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45.61 %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57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>
                <a:solidFill>
                  <a:srgbClr val="5B636E"/>
                </a:solidFill>
                <a:latin typeface="Yu Gothic"/>
              </a:rPr>
              <a:t>残る弱点は「枠外にはみ出した印」。枠の中にインクが無く、外のインクは隣の欄の手書きと見分けが付きません。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800" b="1">
                <a:solidFill>
                  <a:srgbClr val="1B1F24"/>
                </a:solidFill>
                <a:latin typeface="Yu Gothic"/>
              </a:rPr>
              <a:t>精度③ 新しい検証データ（1,000通）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5B636E"/>
                </a:solidFill>
                <a:latin typeface="Yu Gothic"/>
              </a:rPr>
              <a:t>Word入力と手書きが混在・64通を読みやすさ4段階から均等に抽出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72768"/>
            <a:ext cx="11064240" cy="18288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28800"/>
          <a:ext cx="1097279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560319"/>
                <a:gridCol w="2560319"/>
                <a:gridCol w="2011680"/>
              </a:tblGrid>
              <a:tr h="40233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読みやすさ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チェック欄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文字欄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1,000通中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活字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86.5 %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84.2 %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350 通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標準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81.6 %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84.2 %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204 通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達筆（連綿・寝せ字）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78.1 %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39.7 %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227 通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7F4B"/>
                          </a:solidFill>
                          <a:latin typeface="Yu Gothic"/>
                        </a:rPr>
                        <a:t>汚い（つぶれ・重なり）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7F4B"/>
                          </a:solidFill>
                          <a:latin typeface="Yu Gothic"/>
                        </a:rPr>
                        <a:t>66.4 %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7F4B"/>
                          </a:solidFill>
                          <a:latin typeface="Yu Gothic"/>
                        </a:rPr>
                        <a:t>16.1 %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7F4B"/>
                          </a:solidFill>
                          <a:latin typeface="Yu Gothic"/>
                        </a:rPr>
                        <a:t>219 通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114800"/>
            <a:ext cx="1088136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2200" b="1">
                <a:solidFill>
                  <a:srgbClr val="1B1F24"/>
                </a:solidFill>
                <a:latin typeface="Yu Gothic"/>
              </a:rPr>
              <a:t>・崩れているのは「汚い」の1種類に集中している</a:t>
            </a:r>
          </a:p>
          <a:p>
            <a:pPr algn="l">
              <a:spcBef>
                <a:spcPts val="300"/>
              </a:spcBef>
            </a:pPr>
            <a:r>
              <a:rPr sz="1700" b="0">
                <a:solidFill>
                  <a:srgbClr val="5B636E"/>
                </a:solidFill>
                <a:latin typeface="Yu Gothic"/>
              </a:rPr>
              <a:t>　　文字は16.1%で実質読めていない。取り込みの品質がそのまま精度になる</a:t>
            </a:r>
          </a:p>
          <a:p>
            <a:pPr algn="l">
              <a:spcBef>
                <a:spcPts val="1400"/>
              </a:spcBef>
            </a:pPr>
            <a:r>
              <a:rPr sz="2200" b="1">
                <a:solidFill>
                  <a:srgbClr val="1B1F24"/>
                </a:solidFill>
                <a:latin typeface="Yu Gothic"/>
              </a:rPr>
              <a:t>・枠単位では 89.36%（4,895枠）</a:t>
            </a:r>
          </a:p>
          <a:p>
            <a:pPr algn="l">
              <a:spcBef>
                <a:spcPts val="300"/>
              </a:spcBef>
            </a:pPr>
            <a:r>
              <a:rPr sz="1700" b="0">
                <a:solidFill>
                  <a:srgbClr val="5B636E"/>
                </a:solidFill>
                <a:latin typeface="Yu Gothic"/>
              </a:rPr>
              <a:t>　　100通のデータでの 99.08% とは10ポイント差。しきい値は未調整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800" b="1">
                <a:solidFill>
                  <a:srgbClr val="1B1F24"/>
                </a:solidFill>
                <a:latin typeface="Yu Gothic"/>
              </a:rPr>
              <a:t>数字を見るときの注意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5B636E"/>
                </a:solidFill>
                <a:latin typeface="Yu Gothic"/>
              </a:rPr>
              <a:t>同じ「正解率」でも、数え方が違うと比べられません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72768"/>
            <a:ext cx="11064240" cy="18288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28800"/>
          <a:ext cx="10972800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3291840"/>
                <a:gridCol w="3474720"/>
              </a:tblGrid>
              <a:tr h="40690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数え方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1件とするもの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正誤の付け方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いまの値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枠単位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□ ひとつ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合っているか（0か1）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99.08 %（100通）
89.36 %（1,000通）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質問単位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質問ひとつ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言葉の近さ（0〜1）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78.13 %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文字欄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欄ひとつ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言葉の近さ（0〜1）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88.4 %（100通）
56.12 %（1,000通）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343400"/>
            <a:ext cx="1088136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2200" b="1">
                <a:solidFill>
                  <a:srgbClr val="1B1F24"/>
                </a:solidFill>
                <a:latin typeface="Yu Gothic"/>
              </a:rPr>
              <a:t>・複数選択で3つ中2つ合うと、質問単位では 0.7 が付く</a:t>
            </a:r>
          </a:p>
          <a:p>
            <a:pPr algn="l">
              <a:spcBef>
                <a:spcPts val="300"/>
              </a:spcBef>
            </a:pPr>
            <a:r>
              <a:rPr sz="1700" b="0">
                <a:solidFill>
                  <a:srgbClr val="5B636E"/>
                </a:solidFill>
                <a:latin typeface="Yu Gothic"/>
              </a:rPr>
              <a:t>　　枠単位なら「3枠中2枠正解」。同じ土俵ではないので引き算できない</a:t>
            </a:r>
          </a:p>
          <a:p>
            <a:pPr algn="l">
              <a:spcBef>
                <a:spcPts val="1400"/>
              </a:spcBef>
            </a:pPr>
            <a:r>
              <a:rPr sz="2200" b="1">
                <a:solidFill>
                  <a:srgbClr val="1B1F24"/>
                </a:solidFill>
                <a:latin typeface="Yu Gothic"/>
              </a:rPr>
              <a:t>・数字は「どの正解データで、何を1件と数えたか」と一緒に出す</a:t>
            </a:r>
          </a:p>
          <a:p>
            <a:pPr algn="l">
              <a:spcBef>
                <a:spcPts val="300"/>
              </a:spcBef>
            </a:pPr>
            <a:r>
              <a:rPr sz="1700" b="0">
                <a:solidFill>
                  <a:srgbClr val="5B636E"/>
                </a:solidFill>
                <a:latin typeface="Yu Gothic"/>
              </a:rPr>
              <a:t>　　当初これを混同し、10ポイントの差を14ポイントと書いていました（訂正済み）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800" b="1">
                <a:solidFill>
                  <a:srgbClr val="1B1F24"/>
                </a:solidFill>
                <a:latin typeface="Yu Gothic"/>
              </a:rPr>
              <a:t>効いた工夫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5B636E"/>
                </a:solidFill>
                <a:latin typeface="Yu Gothic"/>
              </a:rPr>
              <a:t>いずれも実測で確かめたもの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72768"/>
            <a:ext cx="11064240" cy="18288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28800"/>
          <a:ext cx="109728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0960"/>
                <a:gridCol w="3291840"/>
              </a:tblGrid>
              <a:tr h="39711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やったこと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変化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</a:tr>
              <a:tr h="3971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チェックの判定を、書き方ごとに分けた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7F4B"/>
                          </a:solidFill>
                          <a:latin typeface="Yu Gothic"/>
                        </a:rPr>
                        <a:t>95.47 % → 99.08 %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71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文字を読むモデルを日本語専用に替えた（PP-OCRv4）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7F4B"/>
                          </a:solidFill>
                          <a:latin typeface="Yu Gothic"/>
                        </a:rPr>
                        <a:t>66.7 % → 78.0 %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971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罫線・カッコ・単位を切り落としてから読む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7F4B"/>
                          </a:solidFill>
                          <a:latin typeface="Yu Gothic"/>
                        </a:rPr>
                        <a:t>78.0 % → 84.6 %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71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ふりがな欄で、ひらがなを捨てていた不具合を直した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7F4B"/>
                          </a:solidFill>
                          <a:latin typeface="Yu Gothic"/>
                        </a:rPr>
                        <a:t>0.00 % → 78.1 %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971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テンプレートの記入欄の高さ・中央寄せの取り違えを直した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7F4B"/>
                          </a:solidFill>
                          <a:latin typeface="Yu Gothic"/>
                        </a:rPr>
                        <a:t>年齢 12.5 % → 54.2 %ほか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711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カタカナ語の崩れを、並びとして直す（コソ卜口一ル→コソトロール）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7F4B"/>
                          </a:solidFill>
                          <a:latin typeface="Yu Gothic"/>
                        </a:rPr>
                        <a:t>文字 +0.8 ポイント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>
                <a:solidFill>
                  <a:srgbClr val="5B636E"/>
                </a:solidFill>
                <a:latin typeface="Yu Gothic"/>
              </a:rPr>
              <a:t>「ふりがな 0.00%」は、読めていたのに後処理が全部捨てていたもの。測らなければ気づけませんでした。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800" b="1">
                <a:solidFill>
                  <a:srgbClr val="1B1F24"/>
                </a:solidFill>
                <a:latin typeface="Yu Gothic"/>
              </a:rPr>
              <a:t>試して、効かなかったこと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5B636E"/>
                </a:solidFill>
                <a:latin typeface="Yu Gothic"/>
              </a:rPr>
              <a:t>同じ失敗を繰り返さないために記録しています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72768"/>
            <a:ext cx="11064240" cy="18288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28800"/>
          <a:ext cx="10972799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39"/>
                <a:gridCol w="4023360"/>
                <a:gridCol w="2743200"/>
              </a:tblGrid>
              <a:tr h="3992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試したこと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実測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どうしたか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前処理を強める（二値化・罫線除去）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いずれも悪化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控えめな前処理のまま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文字を輪郭立てする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100dpiで 74.0 % → 70.2 %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切った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□をテンプレート無しで見つける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92.8 %止まり・余計な検出が3〜5倍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組み込まなかった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高精度OCRでチェック欄を検算する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40件を指摘・実際の誤りは0件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外した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LLMで文章を自然な日本語に直す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3通りの条件すべてで上がらず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既定では使わない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>
                <a:solidFill>
                  <a:srgbClr val="B04A0A"/>
                </a:solidFill>
                <a:latin typeface="Yu Gothic"/>
              </a:rPr>
              <a:t>LLMは、読めない文字から「それらしい日本語」を作ります。崩れた読みは見れば誤りと分かりますが、作られた文章は見ても分かりません。そのぶん危ないので、既定では使わず、規則での訂正だけにしてい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800" b="1">
                <a:solidFill>
                  <a:srgbClr val="1B1F24"/>
                </a:solidFill>
                <a:latin typeface="Yu Gothic"/>
              </a:rPr>
              <a:t>「LLMで自然な日本語に直す」を試した結果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5B636E"/>
                </a:solidFill>
                <a:latin typeface="Yu Gothic"/>
              </a:rPr>
              <a:t>正解データで、条件を3通り変えて測りました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72768"/>
            <a:ext cx="11064240" cy="18288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828800"/>
          <a:ext cx="10972800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828800"/>
                <a:gridCol w="1828800"/>
                <a:gridCol w="1737360"/>
                <a:gridCol w="1737360"/>
              </a:tblGrid>
              <a:tr h="40690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どの欄を直させたか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直す前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直した後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良くなった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</a:rPr>
                        <a:t>悪くなった</a:t>
                      </a:r>
                    </a:p>
                  </a:txBody>
                  <a:tcPr marT="38100" marB="38100">
                    <a:solidFill>
                      <a:srgbClr val="1E5AA8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全部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58.40 %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57.97 %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0 件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1 件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確信度0.80以上の欄だけ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96.10 %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96.10 %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0 件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0 件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確信度0.70以上の欄だけ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92.50 %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91.61 %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0 件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F24"/>
                          </a:solidFill>
                          <a:latin typeface="Yu Gothic"/>
                        </a:rPr>
                        <a:t>1 件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794760"/>
            <a:ext cx="1088136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2200" b="1">
                <a:solidFill>
                  <a:srgbClr val="1B1F24"/>
                </a:solidFill>
                <a:latin typeface="Yu Gothic"/>
              </a:rPr>
              <a:t>・よく読めている欄は、すでに9割以上合っていて直すものが無い</a:t>
            </a:r>
          </a:p>
          <a:p>
            <a:pPr algn="l">
              <a:spcBef>
                <a:spcPts val="1400"/>
              </a:spcBef>
            </a:pPr>
            <a:r>
              <a:rPr sz="2200" b="1">
                <a:solidFill>
                  <a:srgbClr val="1B1F24"/>
                </a:solidFill>
                <a:latin typeface="Yu Gothic"/>
              </a:rPr>
              <a:t>・読めていない欄では、書かれていない言葉を作る</a:t>
            </a:r>
          </a:p>
          <a:p>
            <a:pPr algn="l">
              <a:spcBef>
                <a:spcPts val="300"/>
              </a:spcBef>
            </a:pPr>
            <a:r>
              <a:rPr sz="1700" b="0">
                <a:solidFill>
                  <a:srgbClr val="5B636E"/>
                </a:solidFill>
                <a:latin typeface="Yu Gothic"/>
              </a:rPr>
              <a:t>　　「山要に血じて」→「山要に血圧を測って」。「血圧を測って」は原本にありません</a:t>
            </a:r>
          </a:p>
          <a:p>
            <a:pPr algn="l">
              <a:spcBef>
                <a:spcPts val="1400"/>
              </a:spcBef>
            </a:pPr>
            <a:r>
              <a:rPr sz="2200" b="1">
                <a:solidFill>
                  <a:srgbClr val="1B1F24"/>
                </a:solidFill>
                <a:latin typeface="Yu Gothic"/>
              </a:rPr>
              <a:t>・規則での訂正は効いた（カタカナ語の崩れなど）</a:t>
            </a:r>
          </a:p>
          <a:p>
            <a:pPr algn="l">
              <a:spcBef>
                <a:spcPts val="300"/>
              </a:spcBef>
            </a:pPr>
            <a:r>
              <a:rPr sz="1700" b="0">
                <a:solidFill>
                  <a:srgbClr val="5B636E"/>
                </a:solidFill>
                <a:latin typeface="Yu Gothic"/>
              </a:rPr>
              <a:t>　　こちらは既定で動いています。ブラウザ版でも同じように直ります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800" b="1">
                <a:solidFill>
                  <a:srgbClr val="1B1F24"/>
                </a:solidFill>
                <a:latin typeface="Yu Gothic"/>
              </a:rPr>
              <a:t>残っている弱点と、これから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72768"/>
            <a:ext cx="11064240" cy="18288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2200" b="1">
                <a:solidFill>
                  <a:srgbClr val="1B1F24"/>
                </a:solidFill>
                <a:latin typeface="Yu Gothic"/>
              </a:rPr>
              <a:t>・読み取りは完全ではない。必ず原本と照らす運用が前提</a:t>
            </a:r>
          </a:p>
          <a:p>
            <a:pPr algn="l">
              <a:spcBef>
                <a:spcPts val="300"/>
              </a:spcBef>
            </a:pPr>
            <a:r>
              <a:rPr sz="1700" b="0">
                <a:solidFill>
                  <a:srgbClr val="5B636E"/>
                </a:solidFill>
                <a:latin typeface="Yu Gothic"/>
              </a:rPr>
              <a:t>　　確認画面はそのために作ってあります</a:t>
            </a:r>
          </a:p>
          <a:p>
            <a:pPr algn="l">
              <a:spcBef>
                <a:spcPts val="1400"/>
              </a:spcBef>
            </a:pPr>
            <a:r>
              <a:rPr sz="2200" b="1">
                <a:solidFill>
                  <a:srgbClr val="1B1F24"/>
                </a:solidFill>
                <a:latin typeface="Yu Gothic"/>
              </a:rPr>
              <a:t>・つぶれ・重なりの多いスキャンが最大の弱点（1,000通中219通）</a:t>
            </a:r>
          </a:p>
          <a:p>
            <a:pPr algn="l">
              <a:spcBef>
                <a:spcPts val="300"/>
              </a:spcBef>
            </a:pPr>
            <a:r>
              <a:rPr sz="1700" b="0">
                <a:solidFill>
                  <a:srgbClr val="5B636E"/>
                </a:solidFill>
                <a:latin typeface="Yu Gothic"/>
              </a:rPr>
              <a:t>　　文字16.1%。取り込みの品質を上げていただくのが一番効きます</a:t>
            </a:r>
          </a:p>
          <a:p>
            <a:pPr algn="l">
              <a:spcBef>
                <a:spcPts val="1400"/>
              </a:spcBef>
            </a:pPr>
            <a:r>
              <a:rPr sz="2200" b="1">
                <a:solidFill>
                  <a:srgbClr val="1B1F24"/>
                </a:solidFill>
                <a:latin typeface="Yu Gothic"/>
              </a:rPr>
              <a:t>・枠外にはみ出した印は45.6%</a:t>
            </a:r>
          </a:p>
          <a:p>
            <a:pPr algn="l">
              <a:spcBef>
                <a:spcPts val="300"/>
              </a:spcBef>
            </a:pPr>
            <a:r>
              <a:rPr sz="1700" b="0">
                <a:solidFill>
                  <a:srgbClr val="5B636E"/>
                </a:solidFill>
                <a:latin typeface="Yu Gothic"/>
              </a:rPr>
              <a:t>　　隣の欄の手書きと見分けが付かない。1通単位で見分ける層が要ります</a:t>
            </a:r>
          </a:p>
          <a:p>
            <a:pPr algn="l">
              <a:spcBef>
                <a:spcPts val="1400"/>
              </a:spcBef>
            </a:pPr>
            <a:r>
              <a:rPr sz="2200" b="1">
                <a:solidFill>
                  <a:srgbClr val="1B1F24"/>
                </a:solidFill>
                <a:latin typeface="Yu Gothic"/>
              </a:rPr>
              <a:t>・正解データは2種類とも合成されたもの</a:t>
            </a:r>
          </a:p>
          <a:p>
            <a:pPr algn="l">
              <a:spcBef>
                <a:spcPts val="300"/>
              </a:spcBef>
            </a:pPr>
            <a:r>
              <a:rPr sz="1700" b="0">
                <a:solidFill>
                  <a:srgbClr val="5B636E"/>
                </a:solidFill>
                <a:latin typeface="Yu Gothic"/>
              </a:rPr>
              <a:t>　　実データでの検証がまだです。ここが次にやるべきことです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89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>
                <a:solidFill>
                  <a:srgbClr val="5B636E"/>
                </a:solidFill>
                <a:latin typeface="Yu Gothic"/>
              </a:rPr>
              <a:t>詳しい実測値と、試して駄目だったことの記録は開発メモ（DEVNOTES.md）にあります。　作成 2026-09-23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