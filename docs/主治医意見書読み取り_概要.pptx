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65176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60704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</a:pPr>
            <a:r>
              <a:rPr sz="4000" b="1">
                <a:solidFill>
                  <a:srgbClr val="FFFFFF"/>
                </a:solidFill>
                <a:latin typeface="Yu Gothic"/>
              </a:rPr>
              <a:t>主治医意見書 読み取りアプリ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DCE6F5"/>
                </a:solidFill>
                <a:latin typeface="Yu Gothic"/>
              </a:rPr>
              <a:t>介護認定の主治医意見書を読み取り、確認・編集して JSON / CSV にする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6070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800" b="1">
                <a:solidFill>
                  <a:srgbClr val="1B1F24"/>
                </a:solidFill>
                <a:latin typeface="Yu Gothic"/>
              </a:rPr>
              <a:t>項目 107 項目 ／ チェック欄 186 箇所 ／ 検証 250 検体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5B636E"/>
                </a:solidFill>
                <a:latin typeface="Yu Gothic"/>
              </a:rPr>
              <a:t>端末内で処理し、患者情報を外部に送信しません</a:t>
            </a:r>
          </a:p>
          <a:p>
            <a:pPr algn="l">
              <a:spcBef>
                <a:spcPts val="600"/>
              </a:spcBef>
            </a:pPr>
            <a:r>
              <a:rPr sz="800" b="0">
                <a:solidFill>
                  <a:srgbClr val="1B1F24"/>
                </a:solidFill>
                <a:latin typeface="Yu Gothic"/>
              </a:rPr>
              <a:t/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5B636E"/>
                </a:solidFill>
                <a:latin typeface="Yu Gothic"/>
              </a:rPr>
              <a:t>Masaru Sanuki, University of Tsukuba &amp; Department of Biomedical Informatics, University of Tsukuba Hospital</a:t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5B636E"/>
                </a:solidFill>
                <a:latin typeface="Yu Gothic"/>
              </a:rPr>
              <a:t>2026年9月6日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1B1F24"/>
                </a:solidFill>
                <a:latin typeface="Yu Gothic"/>
              </a:rPr>
              <a:t>できること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読み取り → 確認・編集 → 保存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89888"/>
            <a:ext cx="11064240" cy="1143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700" b="1">
                <a:solidFill>
                  <a:srgbClr val="1B1F24"/>
                </a:solidFill>
                <a:latin typeface="Yu Gothic"/>
              </a:rPr>
              <a:t>・2ページのPDF・画像を、1件でも複数件でも読み取る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　　スマートフォンやタブレットで1ページずつ撮った写真にも対応（ページの並びを自動で判定）</a:t>
            </a:r>
          </a:p>
          <a:p>
            <a:pPr algn="l">
              <a:spcBef>
                <a:spcPts val="1000"/>
              </a:spcBef>
            </a:pPr>
            <a:r>
              <a:rPr sz="1700" b="1">
                <a:solidFill>
                  <a:srgbClr val="1B1F24"/>
                </a:solidFill>
                <a:latin typeface="Yu Gothic"/>
              </a:rPr>
              <a:t>・チェック欄 186 箇所は OCR を使わずに判定する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　　白紙様式との差分で見るため、手書き・印刷・スキャンのいずれでも安定する</a:t>
            </a:r>
          </a:p>
          <a:p>
            <a:pPr algn="l">
              <a:spcBef>
                <a:spcPts val="1000"/>
              </a:spcBef>
            </a:pPr>
            <a:r>
              <a:rPr sz="1700" b="1">
                <a:solidFill>
                  <a:srgbClr val="1B1F24"/>
                </a:solidFill>
                <a:latin typeface="Yu Gothic"/>
              </a:rPr>
              <a:t>・読み違いを前提に、確信度を色で示して確認・編集できる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　　要確認だけを表示、元画像の該当箇所を拡大、クリックで対応する項目へ移動</a:t>
            </a:r>
          </a:p>
          <a:p>
            <a:pPr algn="l">
              <a:spcBef>
                <a:spcPts val="1000"/>
              </a:spcBef>
            </a:pPr>
            <a:r>
              <a:rPr sz="1700" b="1">
                <a:solidFill>
                  <a:srgbClr val="1B1F24"/>
                </a:solidFill>
                <a:latin typeface="Yu Gothic"/>
              </a:rPr>
              <a:t>・JSON と CSV で保存する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　　西暦に直した日付など、機械学習で使いやすい形も別に出力する</a:t>
            </a:r>
          </a:p>
          <a:p>
            <a:pPr algn="l">
              <a:spcBef>
                <a:spcPts val="1000"/>
              </a:spcBef>
            </a:pPr>
            <a:r>
              <a:rPr sz="1700" b="1">
                <a:solidFill>
                  <a:srgbClr val="1B1F24"/>
                </a:solidFill>
                <a:latin typeface="Yu Gothic"/>
              </a:rPr>
              <a:t>・研究用の匿名化に対応する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　　氏名が白抜きなら「匿名化済み」、指定すれば住所・連絡先も「マスク済み」にする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36E"/>
                </a:solidFill>
                <a:latin typeface="Yu Gothic"/>
              </a:rPr>
              <a:t>主治医意見書 読み取り　|　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1B1F24"/>
                </a:solidFill>
                <a:latin typeface="Yu Gothic"/>
              </a:rPr>
              <a:t>画面の流れ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89888"/>
            <a:ext cx="11064240" cy="1143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2011680"/>
            <a:ext cx="3383280" cy="2377440"/>
          </a:xfrm>
          <a:prstGeom prst="rect">
            <a:avLst/>
          </a:prstGeom>
          <a:solidFill>
            <a:srgbClr val="F2F5F9"/>
          </a:solidFill>
          <a:ln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52400"/>
          <a:lstStyle/>
          <a:p>
            <a:pPr algn="l">
              <a:spcBef>
                <a:spcPts val="0"/>
              </a:spcBef>
            </a:pPr>
            <a:r>
              <a:rPr sz="2000" b="1">
                <a:solidFill>
                  <a:srgbClr val="1E5AA8"/>
                </a:solidFill>
                <a:latin typeface="Yu Gothic"/>
              </a:rPr>
              <a:t>1. 読み取り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B1F24"/>
                </a:solidFill>
                <a:latin typeface="Yu Gothic"/>
              </a:rPr>
              <a:t>ファイルを入れる／カメラで撮る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B1F24"/>
                </a:solidFill>
                <a:latin typeface="Yu Gothic"/>
              </a:rPr>
              <a:t>様式を自動判別して位置合わせ</a:t>
            </a:r>
          </a:p>
        </p:txBody>
      </p:sp>
      <p:sp>
        <p:nvSpPr>
          <p:cNvPr id="5" name="Rectangle 4"/>
          <p:cNvSpPr/>
          <p:nvPr/>
        </p:nvSpPr>
        <p:spPr>
          <a:xfrm>
            <a:off x="4434840" y="2011680"/>
            <a:ext cx="3383280" cy="2377440"/>
          </a:xfrm>
          <a:prstGeom prst="rect">
            <a:avLst/>
          </a:prstGeom>
          <a:solidFill>
            <a:srgbClr val="F2F5F9"/>
          </a:solidFill>
          <a:ln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52400"/>
          <a:lstStyle/>
          <a:p>
            <a:pPr algn="l">
              <a:spcBef>
                <a:spcPts val="0"/>
              </a:spcBef>
            </a:pPr>
            <a:r>
              <a:rPr sz="2000" b="1">
                <a:solidFill>
                  <a:srgbClr val="1E5AA8"/>
                </a:solidFill>
                <a:latin typeface="Yu Gothic"/>
              </a:rPr>
              <a:t>2. 確認・編集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B1F24"/>
                </a:solidFill>
                <a:latin typeface="Yu Gothic"/>
              </a:rPr>
              <a:t>左に元画像、右に項目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B1F24"/>
                </a:solidFill>
                <a:latin typeface="Yu Gothic"/>
              </a:rPr>
              <a:t>確信度で色分け、確定・削除・音声入力</a:t>
            </a:r>
          </a:p>
        </p:txBody>
      </p:sp>
      <p:sp>
        <p:nvSpPr>
          <p:cNvPr id="6" name="Rectangle 5"/>
          <p:cNvSpPr/>
          <p:nvPr/>
        </p:nvSpPr>
        <p:spPr>
          <a:xfrm>
            <a:off x="8183879" y="2011680"/>
            <a:ext cx="3383280" cy="2377440"/>
          </a:xfrm>
          <a:prstGeom prst="rect">
            <a:avLst/>
          </a:prstGeom>
          <a:solidFill>
            <a:srgbClr val="F2F5F9"/>
          </a:solidFill>
          <a:ln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52400"/>
          <a:lstStyle/>
          <a:p>
            <a:pPr algn="l">
              <a:spcBef>
                <a:spcPts val="0"/>
              </a:spcBef>
            </a:pPr>
            <a:r>
              <a:rPr sz="2000" b="1">
                <a:solidFill>
                  <a:srgbClr val="1E5AA8"/>
                </a:solidFill>
                <a:latin typeface="Yu Gothic"/>
              </a:rPr>
              <a:t>3. 保存・出力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B1F24"/>
                </a:solidFill>
                <a:latin typeface="Yu Gothic"/>
              </a:rPr>
              <a:t>JSON / CSV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B1F24"/>
                </a:solidFill>
                <a:latin typeface="Yu Gothic"/>
              </a:rPr>
              <a:t>読み取り時刻・確信度・訂正の理由も残す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7548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5B636E"/>
                </a:solidFill>
                <a:latin typeface="Yu Gothic"/>
              </a:rPr>
              <a:t>確認・編集は左右が別々にスクロールし、元画像をクリックすると対応する項目へ移動します。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36E"/>
                </a:solidFill>
                <a:latin typeface="Yu Gothic"/>
              </a:rPr>
              <a:t>主治医意見書 読み取り　|　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1B1F24"/>
                </a:solidFill>
                <a:latin typeface="Yu Gothic"/>
              </a:rPr>
              <a:t>読み取りの仕組み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LLM に頼らず、画像処理と辞書で決められるところは決める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89888"/>
            <a:ext cx="11064240" cy="1143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700" b="1">
                <a:solidFill>
                  <a:srgbClr val="1B1F24"/>
                </a:solidFill>
                <a:latin typeface="Yu Gothic"/>
              </a:rPr>
              <a:t>・① 位置合わせ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　　ORB 特徴点 + RANSAC で様式を判別し、写真の歪みも補正する</a:t>
            </a:r>
          </a:p>
          <a:p>
            <a:pPr algn="l">
              <a:spcBef>
                <a:spcPts val="1000"/>
              </a:spcBef>
            </a:pPr>
            <a:r>
              <a:rPr sz="1700" b="1">
                <a:solidFill>
                  <a:srgbClr val="1B1F24"/>
                </a:solidFill>
                <a:latin typeface="Yu Gothic"/>
              </a:rPr>
              <a:t>・② チェック欄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　　白紙様式との差分で「書き込みだけ」を残し、枠内の埋まり具合とはみ出したレ点・丸印を合わせて判定する</a:t>
            </a:r>
          </a:p>
          <a:p>
            <a:pPr algn="l">
              <a:spcBef>
                <a:spcPts val="1000"/>
              </a:spcBef>
            </a:pPr>
            <a:r>
              <a:rPr sz="1700" b="1">
                <a:solidFill>
                  <a:srgbClr val="1B1F24"/>
                </a:solidFill>
                <a:latin typeface="Yu Gothic"/>
              </a:rPr>
              <a:t>・③ 数字だけの欄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　　元号は様式で決まっているので数字だけを読み、印刷された「年・月・日」で区切る</a:t>
            </a:r>
          </a:p>
          <a:p>
            <a:pPr algn="l">
              <a:spcBef>
                <a:spcPts val="1000"/>
              </a:spcBef>
            </a:pPr>
            <a:r>
              <a:rPr sz="1700" b="1">
                <a:solidFill>
                  <a:srgbClr val="1B1F24"/>
                </a:solidFill>
                <a:latin typeface="Yu Gothic"/>
              </a:rPr>
              <a:t>・④ テキスト欄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　　OCR → 記号の除去 → 字体の正規化 → 誤字訂正 → 医療辞書との照合</a:t>
            </a:r>
          </a:p>
          <a:p>
            <a:pPr algn="l">
              <a:spcBef>
                <a:spcPts val="1000"/>
              </a:spcBef>
            </a:pPr>
            <a:r>
              <a:rPr sz="1700" b="1">
                <a:solidFill>
                  <a:srgbClr val="1B1F24"/>
                </a:solidFill>
                <a:latin typeface="Yu Gothic"/>
              </a:rPr>
              <a:t>・⑤ 検算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　　白紙様式との差分から「およそ何文字書かれているか」を出し、読めた文字数と食い違えば確信度を下げて理由を出す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36E"/>
                </a:solidFill>
                <a:latin typeface="Yu Gothic"/>
              </a:rPr>
              <a:t>主治医意見書 読み取り　|　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1B1F24"/>
                </a:solidFill>
                <a:latin typeface="Yu Gothic"/>
              </a:rPr>
              <a:t>ベンチマーク① チェック欄の判定（250検体）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必ず記入される単一選択18項目で測定。OCR は使わない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89888"/>
            <a:ext cx="11064240" cy="1143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874519"/>
          <a:ext cx="859536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38144"/>
                <a:gridCol w="1719072"/>
                <a:gridCol w="1719072"/>
                <a:gridCol w="1719072"/>
              </a:tblGrid>
              <a:tr h="41452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Yu Gothic"/>
                        </a:rPr>
                        <a:t>様式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Yu Gothic"/>
                        </a:rPr>
                        <a:t>件数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Yu Gothic"/>
                        </a:rPr>
                        <a:t>検出率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Yu Gothic"/>
                        </a:rPr>
                        <a:t>確信度「高」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</a:tr>
              <a:tr h="4145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F24"/>
                          </a:solidFill>
                          <a:latin typeface="Yu Gothic"/>
                        </a:rPr>
                        <a:t>official_v1（公式様式）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F24"/>
                          </a:solidFill>
                          <a:latin typeface="Yu Gothic"/>
                        </a:rPr>
                        <a:t>106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7F4B"/>
                          </a:solidFill>
                          <a:latin typeface="Yu Gothic"/>
                        </a:rPr>
                        <a:t>99.6 %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7F4B"/>
                          </a:solidFill>
                          <a:latin typeface="Yu Gothic"/>
                        </a:rPr>
                        <a:t>91.7 %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145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F24"/>
                          </a:solidFill>
                          <a:latin typeface="Yu Gothic"/>
                        </a:rPr>
                        <a:t>sample_v1（別レイアウト）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F24"/>
                          </a:solidFill>
                          <a:latin typeface="Yu Gothic"/>
                        </a:rPr>
                        <a:t>144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7F4B"/>
                          </a:solidFill>
                          <a:latin typeface="Yu Gothic"/>
                        </a:rPr>
                        <a:t>99.1 %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7F4B"/>
                          </a:solidFill>
                          <a:latin typeface="Yu Gothic"/>
                        </a:rPr>
                        <a:t>94.6 %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365760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600" b="1">
                <a:solidFill>
                  <a:srgbClr val="1B1F24"/>
                </a:solidFill>
                <a:latin typeface="Yu Gothic"/>
              </a:rPr>
              <a:t>・様式の判別失敗は 0 件</a:t>
            </a:r>
          </a:p>
          <a:p>
            <a:pPr algn="l">
              <a:spcBef>
                <a:spcPts val="1000"/>
              </a:spcBef>
            </a:pPr>
            <a:r>
              <a:rPr sz="1600" b="1">
                <a:solidFill>
                  <a:srgbClr val="1B1F24"/>
                </a:solidFill>
                <a:latin typeface="Yu Gothic"/>
              </a:rPr>
              <a:t>・チェック欄は OCR 不要のため、手書きでも精度が落ちない</a:t>
            </a:r>
          </a:p>
          <a:p>
            <a:pPr algn="l">
              <a:spcBef>
                <a:spcPts val="1000"/>
              </a:spcBef>
            </a:pPr>
            <a:r>
              <a:rPr sz="1600" b="1">
                <a:solidFill>
                  <a:srgbClr val="1B1F24"/>
                </a:solidFill>
                <a:latin typeface="Yu Gothic"/>
              </a:rPr>
              <a:t>・この 250 検体は、変更のたびに流して退行が無いことを確認している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36E"/>
                </a:solidFill>
                <a:latin typeface="Yu Gothic"/>
              </a:rPr>
              <a:t>主治医意見書 読み取り　|　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1B1F24"/>
                </a:solidFill>
                <a:latin typeface="Yu Gothic"/>
              </a:rPr>
              <a:t>ベンチマーク② OCRエンジンの比較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同じ切り抜き画像を各エンジンに通した実測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89888"/>
            <a:ext cx="11064240" cy="1143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783080"/>
          <a:ext cx="10789917" cy="23957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878"/>
                <a:gridCol w="2217106"/>
                <a:gridCol w="2217106"/>
                <a:gridCol w="2217106"/>
                <a:gridCol w="2512721"/>
              </a:tblGrid>
              <a:tr h="39928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</a:rPr>
                        <a:t>欄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</a:rPr>
                        <a:t>正解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</a:rPr>
                        <a:t>tesseract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</a:rPr>
                        <a:t>RapidOCR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</a:rPr>
                        <a:t>manga-ocr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</a:tr>
              <a:tr h="39928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B1F24"/>
                          </a:solidFill>
                          <a:latin typeface="Yu Gothic"/>
                        </a:rPr>
                        <a:t>医療機関名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B1F24"/>
                          </a:solidFill>
                          <a:latin typeface="Yu Gothic"/>
                        </a:rPr>
                        <a:t>牛久愛和総合病院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B1F24"/>
                          </a:solidFill>
                          <a:latin typeface="Yu Gothic"/>
                        </a:rPr>
                        <a:t>生ん愛和総合病院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B1F24"/>
                          </a:solidFill>
                          <a:latin typeface="Yu Gothic"/>
                        </a:rPr>
                        <a:t>生久爱和合病院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B1F24"/>
                          </a:solidFill>
                          <a:latin typeface="Yu Gothic"/>
                        </a:rPr>
                        <a:t>ここで、年の経験経営者には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39928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B1F24"/>
                          </a:solidFill>
                          <a:latin typeface="Yu Gothic"/>
                        </a:rPr>
                        <a:t>診断名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B1F24"/>
                          </a:solidFill>
                          <a:latin typeface="Yu Gothic"/>
                        </a:rPr>
                        <a:t>変形性膝関節症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B1F24"/>
                          </a:solidFill>
                          <a:latin typeface="Yu Gothic"/>
                        </a:rPr>
                        <a:t>変形性膝関節症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B1F24"/>
                          </a:solidFill>
                          <a:latin typeface="Yu Gothic"/>
                        </a:rPr>
                        <a:t>变形性膝節症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B1F24"/>
                          </a:solidFill>
                          <a:latin typeface="Yu Gothic"/>
                        </a:rPr>
                        <a:t>．．．変材推察課題に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  <a:tr h="39928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B1F24"/>
                          </a:solidFill>
                          <a:latin typeface="Yu Gothic"/>
                        </a:rPr>
                        <a:t>住所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B1F24"/>
                          </a:solidFill>
                          <a:latin typeface="Yu Gothic"/>
                        </a:rPr>
                        <a:t>茨城県土浦市中央8-21-17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B1F24"/>
                          </a:solidFill>
                          <a:latin typeface="Yu Gothic"/>
                        </a:rPr>
                        <a:t>茨城県二浦市中央8-21-17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B1F24"/>
                          </a:solidFill>
                          <a:latin typeface="Yu Gothic"/>
                        </a:rPr>
                        <a:t>茨城土浦市中央8-21-17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B1F24"/>
                          </a:solidFill>
                          <a:latin typeface="Yu Gothic"/>
                        </a:rPr>
                        <a:t>茨城県土浦市中央８２１１７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39928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B1F24"/>
                          </a:solidFill>
                          <a:latin typeface="Yu Gothic"/>
                        </a:rPr>
                        <a:t>特記（長文）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B1F24"/>
                          </a:solidFill>
                          <a:latin typeface="Yu Gothic"/>
                        </a:rPr>
                        <a:t>独居であり……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B1F24"/>
                          </a:solidFill>
                          <a:latin typeface="Yu Gothic"/>
                        </a:rPr>
                        <a:t>ほぼ全文正解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B1F24"/>
                          </a:solidFill>
                          <a:latin typeface="Yu Gothic"/>
                        </a:rPr>
                        <a:t>助詞が大量に脱落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B1F24"/>
                          </a:solidFill>
                          <a:latin typeface="Yu Gothic"/>
                        </a:rPr>
                        <a:t>－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  <a:tr h="39928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B1F24"/>
                          </a:solidFill>
                          <a:latin typeface="Yu Gothic"/>
                        </a:rPr>
                        <a:t>氏名（手書き）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B1F24"/>
                          </a:solidFill>
                          <a:latin typeface="Yu Gothic"/>
                        </a:rPr>
                        <a:t>石井 とめ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B1F24"/>
                          </a:solidFill>
                          <a:latin typeface="Yu Gothic"/>
                        </a:rPr>
                        <a:t>（空）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B1F24"/>
                          </a:solidFill>
                          <a:latin typeface="Yu Gothic"/>
                        </a:rPr>
                        <a:t>石井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B1F24"/>
                          </a:solidFill>
                          <a:latin typeface="Yu Gothic"/>
                        </a:rPr>
                        <a:t>でも、石井とめでは、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512064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B04A0A"/>
                </a:solidFill>
                <a:latin typeface="Yu Gothic"/>
              </a:rPr>
              <a:t>tesseract を既定にした。manga-ocr は生成型のため、文字が少ない欄で「もっともらしい文章を作り出す」ので使わない。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36E"/>
                </a:solidFill>
                <a:latin typeface="Yu Gothic"/>
              </a:rPr>
              <a:t>主治医意見書 読み取り　|　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1B1F24"/>
                </a:solidFill>
                <a:latin typeface="Yu Gothic"/>
              </a:rPr>
              <a:t>ベンチマーク③ LLMモデルの比較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16問（うち4問は「候補を出してはいけない」問題）／ CPU のみ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89888"/>
            <a:ext cx="11064240" cy="1143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783080"/>
          <a:ext cx="10789918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8330"/>
                <a:gridCol w="1415071"/>
                <a:gridCol w="1415071"/>
                <a:gridCol w="2122607"/>
                <a:gridCol w="1768839"/>
              </a:tblGrid>
              <a:tr h="402336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Yu Gothic"/>
                        </a:rPr>
                        <a:t>モデル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Yu Gothic"/>
                        </a:rPr>
                        <a:t>サイズ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Yu Gothic"/>
                        </a:rPr>
                        <a:t>正答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Yu Gothic"/>
                        </a:rPr>
                        <a:t>安全（作り出さない）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Yu Gothic"/>
                        </a:rPr>
                        <a:t>1件あたり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4"/>
                          </a:solidFill>
                          <a:latin typeface="Yu Gothic"/>
                        </a:rPr>
                        <a:t>辞書のみ（LLM不使用）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4"/>
                          </a:solidFill>
                          <a:latin typeface="Yu Gothic"/>
                        </a:rPr>
                        <a:t>—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4"/>
                          </a:solidFill>
                          <a:latin typeface="Yu Gothic"/>
                        </a:rPr>
                        <a:t>9/12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4"/>
                          </a:solidFill>
                          <a:latin typeface="Yu Gothic"/>
                        </a:rPr>
                        <a:t>4/4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4"/>
                          </a:solidFill>
                          <a:latin typeface="Yu Gothic"/>
                        </a:rPr>
                        <a:t>即時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4"/>
                          </a:solidFill>
                          <a:latin typeface="Yu Gothic"/>
                        </a:rPr>
                        <a:t>Qwen3-4B-Instruct-2507-Q4_K_M.gguf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4"/>
                          </a:solidFill>
                          <a:latin typeface="Yu Gothic"/>
                        </a:rPr>
                        <a:t>2.3 GB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4"/>
                          </a:solidFill>
                          <a:latin typeface="Yu Gothic"/>
                        </a:rPr>
                        <a:t>11/12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4"/>
                          </a:solidFill>
                          <a:latin typeface="Yu Gothic"/>
                        </a:rPr>
                        <a:t>4/4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4"/>
                          </a:solidFill>
                          <a:latin typeface="Yu Gothic"/>
                        </a:rPr>
                        <a:t>1.30 秒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4"/>
                          </a:solidFill>
                          <a:latin typeface="Yu Gothic"/>
                        </a:rPr>
                        <a:t>qwen2.5-1.5b-instruct-q4_k_m.gguf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4"/>
                          </a:solidFill>
                          <a:latin typeface="Yu Gothic"/>
                        </a:rPr>
                        <a:t>1.0 GB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4"/>
                          </a:solidFill>
                          <a:latin typeface="Yu Gothic"/>
                        </a:rPr>
                        <a:t>10/12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4"/>
                          </a:solidFill>
                          <a:latin typeface="Yu Gothic"/>
                        </a:rPr>
                        <a:t>4/4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4"/>
                          </a:solidFill>
                          <a:latin typeface="Yu Gothic"/>
                        </a:rPr>
                        <a:t>0.50 秒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4"/>
                          </a:solidFill>
                          <a:latin typeface="Yu Gothic"/>
                        </a:rPr>
                        <a:t>qwen2.5-3b-instruct-q4_k_m.gguf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4"/>
                          </a:solidFill>
                          <a:latin typeface="Yu Gothic"/>
                        </a:rPr>
                        <a:t>2.0 GB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4"/>
                          </a:solidFill>
                          <a:latin typeface="Yu Gothic"/>
                        </a:rPr>
                        <a:t>10/12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4"/>
                          </a:solidFill>
                          <a:latin typeface="Yu Gothic"/>
                        </a:rPr>
                        <a:t>4/4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4"/>
                          </a:solidFill>
                          <a:latin typeface="Yu Gothic"/>
                        </a:rPr>
                        <a:t>1.01 秒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379476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500" b="1">
                <a:solidFill>
                  <a:srgbClr val="1B1F24"/>
                </a:solidFill>
                <a:latin typeface="Yu Gothic"/>
              </a:rPr>
              <a:t>・辞書だけでも 12問中9問は正しく直る。LLM は「辞書に無い表記ゆれ」への保険</a:t>
            </a:r>
          </a:p>
          <a:p>
            <a:pPr algn="l">
              <a:spcBef>
                <a:spcPts val="1000"/>
              </a:spcBef>
            </a:pPr>
            <a:r>
              <a:rPr sz="1500" b="1">
                <a:solidFill>
                  <a:srgbClr val="1B1F24"/>
                </a:solidFill>
                <a:latin typeface="Yu Gothic"/>
              </a:rPr>
              <a:t>・短い欄（傷病名など）は候補を出すだけで、値は自動確定しない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5B636E"/>
                </a:solidFill>
                <a:latin typeface="Yu Gothic"/>
              </a:rPr>
              <a:t>　　小型LLMは読み取り不能な文字列からも、もっともらしい病名を作り出すため</a:t>
            </a:r>
          </a:p>
          <a:p>
            <a:pPr algn="l">
              <a:spcBef>
                <a:spcPts val="1000"/>
              </a:spcBef>
            </a:pPr>
            <a:r>
              <a:rPr sz="1500" b="1">
                <a:solidFill>
                  <a:srgbClr val="1B1F24"/>
                </a:solidFill>
                <a:latin typeface="Yu Gothic"/>
              </a:rPr>
              <a:t>・記述欄（経過及び治療内容・特記すべき事項）だけは校正結果を自動反映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5B636E"/>
                </a:solidFill>
                <a:latin typeface="Yu Gothic"/>
              </a:rPr>
              <a:t>　　反映前の読みは「OCR生読み」として候補に残るので、1押しで戻せる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36E"/>
                </a:solidFill>
                <a:latin typeface="Yu Gothic"/>
              </a:rPr>
              <a:t>主治医意見書 読み取り　|　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1B1F24"/>
                </a:solidFill>
                <a:latin typeface="Yu Gothic"/>
              </a:rPr>
              <a:t>ベンチマーク④ 数字の欄と、記述欄の検算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89888"/>
            <a:ext cx="11064240" cy="1143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783080"/>
          <a:ext cx="107899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57144"/>
                <a:gridCol w="4675632"/>
                <a:gridCol w="3057144"/>
              </a:tblGrid>
              <a:tr h="402336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Yu Gothic"/>
                        </a:rPr>
                        <a:t>対象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Yu Gothic"/>
                        </a:rPr>
                        <a:t>やり方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Yu Gothic"/>
                        </a:rPr>
                        <a:t>結果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B1F24"/>
                          </a:solidFill>
                          <a:latin typeface="Yu Gothic"/>
                        </a:rPr>
                        <a:t>記入日・生年月日・最終診察日・発症年月日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B1F24"/>
                          </a:solidFill>
                          <a:latin typeface="Yu Gothic"/>
                        </a:rPr>
                        <a:t>元号は読まず数字だけを読み、印刷された年／月／日で区切る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B1F24"/>
                          </a:solidFill>
                          <a:latin typeface="Yu Gothic"/>
                        </a:rPr>
                        <a:t>10 / 10 正解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B1F24"/>
                          </a:solidFill>
                          <a:latin typeface="Yu Gothic"/>
                        </a:rPr>
                        <a:t>電話番号・郵便番号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B1F24"/>
                          </a:solidFill>
                          <a:latin typeface="Yu Gothic"/>
                        </a:rPr>
                        <a:t>文字種を限定し、書式を整える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B1F24"/>
                          </a:solidFill>
                          <a:latin typeface="Yu Gothic"/>
                        </a:rPr>
                        <a:t>029-873-3111 の形に統一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B1F24"/>
                          </a:solidFill>
                          <a:latin typeface="Yu Gothic"/>
                        </a:rPr>
                        <a:t>記述欄の左端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B1F24"/>
                          </a:solidFill>
                          <a:latin typeface="Yu Gothic"/>
                        </a:rPr>
                        <a:t>白紙様式を見て、印刷にぶつからない範囲で読み取り枠を広げる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B1F24"/>
                          </a:solidFill>
                          <a:latin typeface="Yu Gothic"/>
                        </a:rPr>
                        <a:t>症状名は9件中9件で先頭が切れていた → 解消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B1F24"/>
                          </a:solidFill>
                          <a:latin typeface="Yu Gothic"/>
                        </a:rPr>
                        <a:t>記入が無い欄の拾い読み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B1F24"/>
                          </a:solidFill>
                          <a:latin typeface="Yu Gothic"/>
                        </a:rPr>
                        <a:t>書き込みが1文字ぶんも無いのに文字が読めた場合を検出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B1F24"/>
                          </a:solidFill>
                          <a:latin typeface="Yu Gothic"/>
                        </a:rPr>
                        <a:t>449欄中28欄を検出（確信度0.8以上の誤りは0件）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50292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5B636E"/>
                </a:solidFill>
                <a:latin typeface="Yu Gothic"/>
              </a:rPr>
              <a:t>値は書き換えず、確信度を下げて理由を出す。「読めた文字が少ないから補う」ことはしない（無い記載を作らないため）。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36E"/>
                </a:solidFill>
                <a:latin typeface="Yu Gothic"/>
              </a:rPr>
              <a:t>主治医意見書 読み取り　|　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1B1F24"/>
                </a:solidFill>
                <a:latin typeface="Yu Gothic"/>
              </a:rPr>
              <a:t>医療辞書と医療機関一覧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89888"/>
            <a:ext cx="11064240" cy="1143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700" b="1">
                <a:solidFill>
                  <a:srgbClr val="1B1F24"/>
                </a:solidFill>
                <a:latin typeface="Yu Gothic"/>
              </a:rPr>
              <a:t>・傷病名は ICD-10 コードと介護保険の特定疾病フラグを持つ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　　編集距離ベースの照合で1文字違いも拾う（骨粗葵症→骨粗鬆症、慢性裳臓病→慢性腎臓病）</a:t>
            </a:r>
          </a:p>
          <a:p>
            <a:pPr algn="l">
              <a:spcBef>
                <a:spcPts val="1000"/>
              </a:spcBef>
            </a:pPr>
            <a:r>
              <a:rPr sz="1700" b="1">
                <a:solidFill>
                  <a:srgbClr val="1B1F24"/>
                </a:solidFill>
                <a:latin typeface="Yu Gothic"/>
              </a:rPr>
              <a:t>・診療科しか入らない欄には診療科の辞書を当てる</a:t>
            </a:r>
          </a:p>
          <a:p>
            <a:pPr algn="l">
              <a:spcBef>
                <a:spcPts val="1000"/>
              </a:spcBef>
            </a:pPr>
            <a:r>
              <a:rPr sz="1700" b="1">
                <a:solidFill>
                  <a:srgbClr val="1B1F24"/>
                </a:solidFill>
                <a:latin typeface="Yu Gothic"/>
              </a:rPr>
              <a:t>・医療機関は厚生労働省の一覧と突き合わせる（47 都道府県 / 97,399 件 / 2026-09-06 現在）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　　確認画面では都道府県を選んで検索でき、選ぶと所在地と電話も自動で入る</a:t>
            </a:r>
          </a:p>
          <a:p>
            <a:pPr algn="l">
              <a:spcBef>
                <a:spcPts val="1000"/>
              </a:spcBef>
            </a:pPr>
            <a:r>
              <a:rPr sz="1700" b="1">
                <a:solidFill>
                  <a:srgbClr val="1B1F24"/>
                </a:solidFill>
                <a:latin typeface="Yu Gothic"/>
              </a:rPr>
              <a:t>・辞書で「短くしてしまう」置き換えはしない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　　『筑波記念病院』が『病院』に、『右大腿骨骨折』が『骨折』に潰れていたのを修正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36E"/>
                </a:solidFill>
                <a:latin typeface="Yu Gothic"/>
              </a:rPr>
              <a:t>主治医意見書 読み取り　|　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1B1F24"/>
                </a:solidFill>
                <a:latin typeface="Yu Gothic"/>
              </a:rPr>
              <a:t>確認・編集画面の工夫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読み違いを見つけやすく、直しやすくする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89888"/>
            <a:ext cx="11064240" cy="1143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600" b="1">
                <a:solidFill>
                  <a:srgbClr val="1B1F24"/>
                </a:solidFill>
                <a:latin typeface="Yu Gothic"/>
              </a:rPr>
              <a:t>・確信度を色で示す（高・中・要確認・修正済み・確定・匿名化）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5B636E"/>
                </a:solidFill>
                <a:latin typeface="Yu Gothic"/>
              </a:rPr>
              <a:t>　　タグだけでなく背景色にも反映し、元画像の該当箇所にも同じ色を重ねる</a:t>
            </a:r>
          </a:p>
          <a:p>
            <a:pPr algn="l">
              <a:spcBef>
                <a:spcPts val="1000"/>
              </a:spcBef>
            </a:pPr>
            <a:r>
              <a:rPr sz="1600" b="1">
                <a:solidFill>
                  <a:srgbClr val="1B1F24"/>
                </a:solidFill>
                <a:latin typeface="Yu Gothic"/>
              </a:rPr>
              <a:t>・様式と同じ並びで表示する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5B636E"/>
                </a:solidFill>
                <a:latin typeface="Yu Gothic"/>
              </a:rPr>
              <a:t>　　選択肢の行・列、関連項目のまとまり（褥瘡＝有無＋部位＋程度）</a:t>
            </a:r>
          </a:p>
          <a:p>
            <a:pPr algn="l">
              <a:spcBef>
                <a:spcPts val="1000"/>
              </a:spcBef>
            </a:pPr>
            <a:r>
              <a:rPr sz="1600" b="1">
                <a:solidFill>
                  <a:srgbClr val="1B1F24"/>
                </a:solidFill>
                <a:latin typeface="Yu Gothic"/>
              </a:rPr>
              <a:t>・「確定」（黄緑）と「削除して確定」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5B636E"/>
                </a:solidFill>
                <a:latin typeface="Yu Gothic"/>
              </a:rPr>
              <a:t>　　記入が無い欄に文字が入った場合を1操作で片付ける</a:t>
            </a:r>
          </a:p>
          <a:p>
            <a:pPr algn="l">
              <a:spcBef>
                <a:spcPts val="1000"/>
              </a:spcBef>
            </a:pPr>
            <a:r>
              <a:rPr sz="1600" b="1">
                <a:solidFill>
                  <a:srgbClr val="1B1F24"/>
                </a:solidFill>
                <a:latin typeface="Yu Gothic"/>
              </a:rPr>
              <a:t>・候補ボタン（辞書・LLM・OCR生読み）と、辞書からの検索</a:t>
            </a:r>
          </a:p>
          <a:p>
            <a:pPr algn="l">
              <a:spcBef>
                <a:spcPts val="1000"/>
              </a:spcBef>
            </a:pPr>
            <a:r>
              <a:rPr sz="1600" b="1">
                <a:solidFill>
                  <a:srgbClr val="1B1F24"/>
                </a:solidFill>
                <a:latin typeface="Yu Gothic"/>
              </a:rPr>
              <a:t>・記述欄は音声入力もできる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5B636E"/>
                </a:solidFill>
                <a:latin typeface="Yu Gothic"/>
              </a:rPr>
              <a:t>　　ブラウザの音声認識を使うため、初回に確認を出す</a:t>
            </a:r>
          </a:p>
          <a:p>
            <a:pPr algn="l">
              <a:spcBef>
                <a:spcPts val="1000"/>
              </a:spcBef>
            </a:pPr>
            <a:r>
              <a:rPr sz="1600" b="1">
                <a:solidFill>
                  <a:srgbClr val="1B1F24"/>
                </a:solidFill>
                <a:latin typeface="Yu Gothic"/>
              </a:rPr>
              <a:t>・拡大表示は掴んで動かせる／集計は上部に固定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36E"/>
                </a:solidFill>
                <a:latin typeface="Yu Gothic"/>
              </a:rPr>
              <a:t>主治医意見書 読み取り　|　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1B1F24"/>
                </a:solidFill>
                <a:latin typeface="Yu Gothic"/>
              </a:rPr>
              <a:t>匿名化・操作ログ・利用者の区別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89888"/>
            <a:ext cx="11064240" cy="1143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600" b="1">
                <a:solidFill>
                  <a:srgbClr val="1B1F24"/>
                </a:solidFill>
                <a:latin typeface="Yu Gothic"/>
              </a:rPr>
              <a:t>・匿名化加工済みデータ（研究用）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5B636E"/>
                </a:solidFill>
                <a:latin typeface="Yu Gothic"/>
              </a:rPr>
              <a:t>　　氏名欄が白抜きなら「匿名化済み」。指定すると住所・連絡先も「マスク済み」にし、元の読み取り値ごと捨てる</a:t>
            </a:r>
          </a:p>
          <a:p>
            <a:pPr algn="l">
              <a:spcBef>
                <a:spcPts val="1000"/>
              </a:spcBef>
            </a:pPr>
            <a:r>
              <a:rPr sz="1600" b="1">
                <a:solidFill>
                  <a:srgbClr val="1B1F24"/>
                </a:solidFill>
                <a:latin typeface="Yu Gothic"/>
              </a:rPr>
              <a:t>・操作ログ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5B636E"/>
                </a:solidFill>
                <a:latin typeface="Yu Gothic"/>
              </a:rPr>
              <a:t>　　読み取り・修正（直す前→直した後）・確定・候補採用・音声入力を記録し、JSON / CSV で保存できる。個人情報の項目は値を残さず文字数だけ</a:t>
            </a:r>
          </a:p>
          <a:p>
            <a:pPr algn="l">
              <a:spcBef>
                <a:spcPts val="1000"/>
              </a:spcBef>
            </a:pPr>
            <a:r>
              <a:rPr sz="1600" b="1">
                <a:solidFill>
                  <a:srgbClr val="1B1F24"/>
                </a:solidFill>
                <a:latin typeface="Yu Gothic"/>
              </a:rPr>
              <a:t>・利用者トークン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5B636E"/>
                </a:solidFill>
                <a:latin typeface="Yu Gothic"/>
              </a:rPr>
              <a:t>　　同じ端末を複数人が使っても履歴が混ざらないよう、ブラウザごとに発行したトークンで保存先を分ける。共用端末では作業後に消せる</a:t>
            </a:r>
          </a:p>
          <a:p>
            <a:pPr algn="l">
              <a:spcBef>
                <a:spcPts val="1000"/>
              </a:spcBef>
            </a:pPr>
            <a:r>
              <a:rPr sz="1600" b="1">
                <a:solidFill>
                  <a:srgbClr val="1B1F24"/>
                </a:solidFill>
                <a:latin typeface="Yu Gothic"/>
              </a:rPr>
              <a:t>・サイト全体は Basic 認証で保護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5B636E"/>
                </a:solidFill>
                <a:latin typeface="Yu Gothic"/>
              </a:rPr>
              <a:t>　　トークンは認証ではない、と画面にも明記している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36E"/>
                </a:solidFill>
                <a:latin typeface="Yu Gothic"/>
              </a:rPr>
              <a:t>主治医意見書 読み取り　|　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1B1F24"/>
                </a:solidFill>
                <a:latin typeface="Yu Gothic"/>
              </a:rPr>
              <a:t>品質チェックで見つけた重大な不具合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「見た目は正しく確信度も高いのに中身が違う」型を、実測で洗い出した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89888"/>
            <a:ext cx="11064240" cy="1143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783080"/>
          <a:ext cx="10789920" cy="3163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95800"/>
                <a:gridCol w="6294120"/>
              </a:tblGrid>
              <a:tr h="39547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Yu Gothic"/>
                        </a:rPr>
                        <a:t>見つかった不具合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Yu Gothic"/>
                        </a:rPr>
                        <a:t>起きていたこと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</a:tr>
              <a:tr h="39547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定型文フィルタが臨床情報を消す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『認知症』『骨折』『がん』が空になる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39547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病名が別の病名に化ける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『糖尿病』→『糖尿病性腎症』を確信度100%で採用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  <a:tr h="39547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数字の切り詰め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『2024年』→『20年』→ 西暦2038年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39547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記入が無い欄の拾い読みが素通り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『摂食の留意事項＝い』が確信度0.816（緑）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  <a:tr h="39547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操作ログに個人情報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ファイル名（氏名を含む）と医療機関名が生で残る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39547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編集ログが別の意見書と混ざる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存在しない訂正が記録される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  <a:tr h="39547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欄が画像の端に掛かると落ちる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1件まるごと失われる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54864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5B636E"/>
                </a:solidFill>
                <a:latin typeface="Yu Gothic"/>
              </a:rPr>
              <a:t>同じ判定を Python とブラウザの両方に持つため、同じ入力で値が一致するかを必ず突き合わせる。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36E"/>
                </a:solidFill>
                <a:latin typeface="Yu Gothic"/>
              </a:rPr>
              <a:t>主治医意見書 読み取り　|　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1B1F24"/>
                </a:solidFill>
                <a:latin typeface="Yu Gothic"/>
              </a:rPr>
              <a:t>配布のしかた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89888"/>
            <a:ext cx="11064240" cy="1143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828800"/>
          <a:ext cx="107899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7312"/>
                <a:gridCol w="3057144"/>
                <a:gridCol w="4855464"/>
              </a:tblGrid>
              <a:tr h="402336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Yu Gothic"/>
                        </a:rPr>
                        <a:t>方法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Yu Gothic"/>
                        </a:rPr>
                        <a:t>対象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Yu Gothic"/>
                        </a:rPr>
                        <a:t>特徴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F24"/>
                          </a:solidFill>
                          <a:latin typeface="Yu Gothic"/>
                        </a:rPr>
                        <a:t>Web版（サーバに設置）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F24"/>
                          </a:solidFill>
                          <a:latin typeface="Yu Gothic"/>
                        </a:rPr>
                        <a:t>組織で使う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F24"/>
                          </a:solidFill>
                          <a:latin typeface="Yu Gothic"/>
                        </a:rPr>
                        <a:t>全機能。Basic認証で保護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F24"/>
                          </a:solidFill>
                          <a:latin typeface="Yu Gothic"/>
                        </a:rPr>
                        <a:t>Python版（pip）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F24"/>
                          </a:solidFill>
                          <a:latin typeface="Yu Gothic"/>
                        </a:rPr>
                        <a:t>Rocky / Ubuntu / macOS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F24"/>
                          </a:solidFill>
                          <a:latin typeface="Yu Gothic"/>
                        </a:rPr>
                        <a:t>大量処理・自動化に向く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F24"/>
                          </a:solidFill>
                          <a:latin typeface="Yu Gothic"/>
                        </a:rPr>
                        <a:t>Docker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F24"/>
                          </a:solidFill>
                          <a:latin typeface="Yu Gothic"/>
                        </a:rPr>
                        <a:t>Windows など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F24"/>
                          </a:solidFill>
                          <a:latin typeface="Yu Gothic"/>
                        </a:rPr>
                        <a:t>OS を問わず同じ環境で動く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F24"/>
                          </a:solidFill>
                          <a:latin typeface="Yu Gothic"/>
                        </a:rPr>
                        <a:t>単一HTMLファイル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F24"/>
                          </a:solidFill>
                          <a:latin typeface="Yu Gothic"/>
                        </a:rPr>
                        <a:t>持ち運び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F24"/>
                          </a:solidFill>
                          <a:latin typeface="Yu Gothic"/>
                        </a:rPr>
                        <a:t>チェック欄のみ（ブラウザの制約でOCRは動かない）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457200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500" b="1">
                <a:solidFill>
                  <a:srgbClr val="1B1F24"/>
                </a:solidFill>
                <a:latin typeface="Yu Gothic"/>
              </a:rPr>
              <a:t>・辞書・テンプレート・様式定義はデータとして分離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5B636E"/>
                </a:solidFill>
                <a:latin typeface="Yu Gothic"/>
              </a:rPr>
              <a:t>　　新しい様式は管理画面から追加できる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36E"/>
                </a:solidFill>
                <a:latin typeface="Yu Gothic"/>
              </a:rPr>
              <a:t>主治医意見書 読み取り　|　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1B1F24"/>
                </a:solidFill>
                <a:latin typeface="Yu Gothic"/>
              </a:rPr>
              <a:t>開発の記録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89888"/>
            <a:ext cx="11064240" cy="1143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600" b="1">
                <a:solidFill>
                  <a:srgbClr val="1B1F24"/>
                </a:solidFill>
                <a:latin typeface="Yu Gothic"/>
              </a:rPr>
              <a:t>・GitHub の Issue に問題を残している（全 47 件 / 未対応 4 件）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5B636E"/>
                </a:solidFill>
                <a:latin typeface="Yu Gothic"/>
              </a:rPr>
              <a:t>　　症状・原因・直し方・確認方法をそれぞれに書いている</a:t>
            </a:r>
          </a:p>
          <a:p>
            <a:pPr algn="l">
              <a:spcBef>
                <a:spcPts val="1000"/>
              </a:spcBef>
            </a:pPr>
            <a:r>
              <a:rPr sz="1600" b="1">
                <a:solidFill>
                  <a:srgbClr val="1B1F24"/>
                </a:solidFill>
                <a:latin typeface="Yu Gothic"/>
              </a:rPr>
              <a:t>・WORKLOG.md（作業ログ）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5B636E"/>
                </a:solidFill>
                <a:latin typeface="Yu Gothic"/>
              </a:rPr>
              <a:t>　　どのコミットでどのファイルを何行いじったか、指示への対応状況の対照表</a:t>
            </a:r>
          </a:p>
          <a:p>
            <a:pPr algn="l">
              <a:spcBef>
                <a:spcPts val="1000"/>
              </a:spcBef>
            </a:pPr>
            <a:r>
              <a:rPr sz="1600" b="1">
                <a:solidFill>
                  <a:srgbClr val="1B1F24"/>
                </a:solidFill>
                <a:latin typeface="Yu Gothic"/>
              </a:rPr>
              <a:t>・DEVNOTES.md（開発メモ）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5B636E"/>
                </a:solidFill>
                <a:latin typeface="Yu Gothic"/>
              </a:rPr>
              <a:t>　　設計の経緯、試して駄目だった方法、既知の限界</a:t>
            </a:r>
          </a:p>
          <a:p>
            <a:pPr algn="l">
              <a:spcBef>
                <a:spcPts val="1000"/>
              </a:spcBef>
            </a:pPr>
            <a:r>
              <a:rPr sz="1600" b="1">
                <a:solidFill>
                  <a:srgbClr val="1B1F24"/>
                </a:solidFill>
                <a:latin typeface="Yu Gothic"/>
              </a:rPr>
              <a:t>・docs/DEVELOPER.md（技術者向け）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5B636E"/>
                </a:solidFill>
                <a:latin typeface="Yu Gothic"/>
              </a:rPr>
              <a:t>　　構成、全コマンド、新しい様式の追加手順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36E"/>
                </a:solidFill>
                <a:latin typeface="Yu Gothic"/>
              </a:rPr>
              <a:t>主治医意見書 読み取り　|　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1B1F24"/>
                </a:solidFill>
                <a:latin typeface="Yu Gothic"/>
              </a:rPr>
              <a:t>これから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89888"/>
            <a:ext cx="11064240" cy="1143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700" b="1">
                <a:solidFill>
                  <a:srgbClr val="1B1F24"/>
                </a:solidFill>
                <a:latin typeface="Yu Gothic"/>
              </a:rPr>
              <a:t>・医療機関一覧を全国分そろえる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　　厚生局ごとに公開の形が違うため、中身を見て判定する方式に作り替えた</a:t>
            </a:r>
          </a:p>
          <a:p>
            <a:pPr algn="l">
              <a:spcBef>
                <a:spcPts val="1000"/>
              </a:spcBef>
            </a:pPr>
            <a:r>
              <a:rPr sz="1700" b="1">
                <a:solidFill>
                  <a:srgbClr val="1B1F24"/>
                </a:solidFill>
                <a:latin typeface="Yu Gothic"/>
              </a:rPr>
              <a:t>・管理画面から「最新版に更新」できるようにする</a:t>
            </a:r>
          </a:p>
          <a:p>
            <a:pPr algn="l">
              <a:spcBef>
                <a:spcPts val="1000"/>
              </a:spcBef>
            </a:pPr>
            <a:r>
              <a:rPr sz="1700" b="1">
                <a:solidFill>
                  <a:srgbClr val="1B1F24"/>
                </a:solidFill>
                <a:latin typeface="Yu Gothic"/>
              </a:rPr>
              <a:t>・単一HTMLファイル版でのテキストOCR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　　ブラウザの制約があり、方法を検討中</a:t>
            </a:r>
          </a:p>
          <a:p>
            <a:pPr algn="l">
              <a:spcBef>
                <a:spcPts val="1000"/>
              </a:spcBef>
            </a:pPr>
            <a:r>
              <a:rPr sz="1700" b="1">
                <a:solidFill>
                  <a:srgbClr val="1B1F24"/>
                </a:solidFill>
                <a:latin typeface="Yu Gothic"/>
              </a:rPr>
              <a:t>・読み取り精度の継続的な検証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　　操作ログの「どこをどれだけ直したか」を精度の指標に使う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7607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>
                <a:solidFill>
                  <a:srgbClr val="5B636E"/>
                </a:solidFill>
                <a:latin typeface="Yu Gothic"/>
              </a:rPr>
              <a:t>Masaru Sanuki, University of Tsukuba &amp; Department of Biomedical Informatics, University of Tsukuba Hospital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36E"/>
                </a:solidFill>
                <a:latin typeface="Yu Gothic"/>
              </a:rPr>
              <a:t>主治医意見書 読み取り　|　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