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Yu Gothic"/>
              </a:rPr>
              <a:t>主治医意見書 読み取りアプリ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DCE6F5"/>
                </a:solidFill>
                <a:latin typeface="Yu Gothic"/>
              </a:rPr>
              <a:t>介護認定の主治医意見書を読み取り、確認・編集して JSON / CSV 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>
                <a:solidFill>
                  <a:srgbClr val="1B1F24"/>
                </a:solidFill>
                <a:latin typeface="Yu Gothic"/>
              </a:rPr>
              <a:t>項目 107 項目 ／ チェック欄 186 箇所 ／ 検証 250 検体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5B636E"/>
                </a:solidFill>
                <a:latin typeface="Yu Gothic"/>
              </a:rPr>
              <a:t>端末内で処理し、患者情報を外部に送信しません</a:t>
            </a:r>
          </a:p>
          <a:p>
            <a:pPr algn="l">
              <a:spcBef>
                <a:spcPts val="600"/>
              </a:spcBef>
            </a:pPr>
            <a:r>
              <a:rPr sz="800" b="0">
                <a:solidFill>
                  <a:srgbClr val="1B1F24"/>
                </a:solidFill>
                <a:latin typeface="Yu Gothic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Masaru Sanuki, University of Tsukuba &amp; Department of Biomedical Informatics, University of Tsukuba Hospital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2026年9月8日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できること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読み取り → 確認・編集 → 保存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・2ページのPDF・画像を、1件でも複数件でも読み取る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スマートフォンやタブレットで1ページずつ撮った写真にも対応（ページの並びを自動で判定）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・チェック欄 186 箇所は OCR を使わずに判定する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白紙様式との差分で見るため、手書き・印刷・スキャンのいずれでも安定する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・読み違いを前提に、確信度を色で示して確認・編集できる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要確認だけを表示、元画像の該当箇所を拡大、クリックで対応する項目へ移動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・JSON と CSV で保存する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西暦に直した日付など、機械学習で使いやすい形も別に出力する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・研究用の匿名化に対応する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氏名が白抜きなら「匿名化済み」、指定すれば住所・連絡先も「マスク済み」にする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画面の流れ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383280" cy="2377440"/>
          </a:xfrm>
          <a:prstGeom prst="rect">
            <a:avLst/>
          </a:prstGeom>
          <a:solidFill>
            <a:srgbClr val="F2F5F9"/>
          </a:solidFill>
          <a:ln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1E5AA8"/>
                </a:solidFill>
                <a:latin typeface="Yu Gothic"/>
              </a:rPr>
              <a:t>1. 読み取り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ファイルを入れる／カメラで撮る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様式を自動判別して位置合わせ</a:t>
            </a:r>
          </a:p>
        </p:txBody>
      </p:sp>
      <p:sp>
        <p:nvSpPr>
          <p:cNvPr id="5" name="Rectangle 4"/>
          <p:cNvSpPr/>
          <p:nvPr/>
        </p:nvSpPr>
        <p:spPr>
          <a:xfrm>
            <a:off x="4434840" y="2011680"/>
            <a:ext cx="3383280" cy="2377440"/>
          </a:xfrm>
          <a:prstGeom prst="rect">
            <a:avLst/>
          </a:prstGeom>
          <a:solidFill>
            <a:srgbClr val="F2F5F9"/>
          </a:solidFill>
          <a:ln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1E5AA8"/>
                </a:solidFill>
                <a:latin typeface="Yu Gothic"/>
              </a:rPr>
              <a:t>2. 確認・編集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左に元画像、右に項目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確信度で色分け、確定・削除・音声入力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8183879" y="2011680"/>
            <a:ext cx="3383280" cy="2377440"/>
          </a:xfrm>
          <a:prstGeom prst="rect">
            <a:avLst/>
          </a:prstGeom>
          <a:solidFill>
            <a:srgbClr val="F2F5F9"/>
          </a:solidFill>
          <a:ln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1E5AA8"/>
                </a:solidFill>
                <a:latin typeface="Yu Gothic"/>
              </a:rPr>
              <a:t>3. 保存・出力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JSON / CSV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読み取り時刻・確信度・訂正の理由も残す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54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確認・編集は左右が別々にスクロールし、元画像をクリックすると対応する項目へ移動します。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読み取りの仕組み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LLM に頼らず、画像処理と辞書で決められるところは決める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・① 位置合わせ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ORB 特徴点 + RANSAC で様式を判別し、写真の歪みも補正する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・② チェック欄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白紙様式との差分で「書き込みだけ」を残し、枠内の埋まり具合とはみ出したレ点・丸印を合わせて判定する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・③ 数字だけの欄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元号は様式で決まっているので数字だけを読み、印刷された「年・月・日」で区切る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・④ テキスト欄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OCR → 記号の除去 → 字体の正規化 → 誤字訂正 → 医療辞書との照合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・⑤ 検算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白紙様式との差分から「およそ何文字書かれているか」を出し、読めた文字数と食い違えば確信度を下げて理由を出す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ベンチマーク① チェック欄の判定（250検体）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必ず記入される単一選択18項目で測定。OCR は使わない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74519"/>
          <a:ext cx="8595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8144"/>
                <a:gridCol w="1719072"/>
                <a:gridCol w="1719072"/>
                <a:gridCol w="1719072"/>
              </a:tblGrid>
              <a:tr h="4145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>様式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>件数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>検出率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>確信度「高」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official_v1（公式様式）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106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7F4B"/>
                          </a:solidFill>
                          <a:latin typeface="Yu Gothic"/>
                        </a:rPr>
                        <a:t>99.6 %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7F4B"/>
                          </a:solidFill>
                          <a:latin typeface="Yu Gothic"/>
                        </a:rPr>
                        <a:t>91.7 %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sample_v1（別レイアウト）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144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7F4B"/>
                          </a:solidFill>
                          <a:latin typeface="Yu Gothic"/>
                        </a:rPr>
                        <a:t>99.1 %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7F4B"/>
                          </a:solidFill>
                          <a:latin typeface="Yu Gothic"/>
                        </a:rPr>
                        <a:t>94.6 %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6576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・様式の判別失敗は 0 件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・チェック欄は OCR 不要のため、手書きでも精度が落ちない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・この 250 検体は、変更のたびに流して退行が無いことを確認している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ベンチマーク② 文字を読むモデルの比較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正解データ（72項目）と突き合わせた実測。位置合わせと欄の切り出しは共通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16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1565"/>
                <a:gridCol w="1712685"/>
                <a:gridCol w="1712685"/>
                <a:gridCol w="1712685"/>
                <a:gridCol w="1370148"/>
                <a:gridCol w="1370148"/>
              </a:tblGrid>
              <a:tr h="4069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エンジン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文字正解率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完全一致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空欄の判定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拾い読み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所要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rapidocr:japan_v4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7F4B"/>
                          </a:solidFill>
                          <a:latin typeface="Yu Gothic"/>
                        </a:rPr>
                        <a:t>93.0%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7F4B"/>
                          </a:solidFill>
                          <a:latin typeface="Yu Gothic"/>
                        </a:rPr>
                        <a:t>60.0%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7F4B"/>
                          </a:solidFill>
                          <a:latin typeface="Yu Gothic"/>
                        </a:rPr>
                        <a:t>95.5%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7F4B"/>
                          </a:solidFill>
                          <a:latin typeface="Yu Gothic"/>
                        </a:rPr>
                        <a:t>0件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7F4B"/>
                          </a:solidFill>
                          <a:latin typeface="Yu Gothic"/>
                        </a:rPr>
                        <a:t>45.3秒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tesseract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85.3%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54.0%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81.8%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2件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9.5秒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rapidocr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80.4%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42.0%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90.9%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1件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55.9秒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6576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・日本語専用の認識モデルに替えた（PP-OCRv4）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既定のRapidOCRは中国語向け。tesseractは日本語のかな・医療用語に弱い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・罫線・カッコ・単位を切り落としてから読む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白紙様式との差分で印刷と書き込みを見分ける。生読みで 78.0% → 84.6%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・書き込みが無い欄は読まない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罫線から文字を作る「拾い読み」を防ぐ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・ブラウザ版も同じモデルを動かす（onnxruntime-web）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実測 92.1%。Python版 93.0% とほぼ揃った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ベンチマーク③ LLMモデルの比較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16問（うち4問は「候補を出してはいけない」問題）／ CPU のみ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1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8330"/>
                <a:gridCol w="1415071"/>
                <a:gridCol w="1415071"/>
                <a:gridCol w="2122607"/>
                <a:gridCol w="1768839"/>
              </a:tblGrid>
              <a:tr h="402336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モデル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サイズ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正答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安全（作り出さない）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1件あたり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辞書のみ（LLM不使用）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—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9/12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4/4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即時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Qwen3-4B-Instruct-2507-Q4_K_M.gguf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2.3 GB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11/12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4/4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1.30 秒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qwen2.5-1.5b-instruct-q4_k_m.gguf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1.0 GB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10/12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4/4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0.50 秒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qwen2.5-3b-instruct-q4_k_m.gguf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2.0 GB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10/12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4/4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1.01 秒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947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・辞書だけでも 12問中9問は正しく直る。LLM は「辞書に無い表記ゆれ」への保険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・短い欄（傷病名など）は候補を出すだけで、値は自動確定しない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小型LLMは読み取り不能な文字列からも、もっともらしい病名を作り出すため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・記述欄（経過及び治療内容・特記すべき事項）だけは校正結果を自動反映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反映前の読みは「OCR生読み」として候補に残るので、1押しで戻せる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ベンチマーク④ 数字の欄と、記述欄の検算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7144"/>
                <a:gridCol w="4675632"/>
                <a:gridCol w="3057144"/>
              </a:tblGrid>
              <a:tr h="40233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対象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やり方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結果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記入日・生年月日・最終診察日・発症年月日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元号は読まず数字だけを読み、印刷された年／月／日で区切る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10 / 10 正解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電話番号・郵便番号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文字種を限定し、書式を整える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029-873-3111 の形に統一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記述欄の左端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白紙様式を見て、印刷にぶつからない範囲で読み取り枠を広げる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症状名は9件中9件で先頭が切れていた → 解消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記入が無い欄の拾い読み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書き込みが1文字ぶんも無いのに文字が読めた場合を検出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449欄中28欄を検出（確信度0.8以上の誤りは0件）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029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値は書き換えず、確信度を下げて理由を出す。「読めた文字が少ないから補う」ことはしない（無い記載を作らないため）。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医療辞書と医療機関一覧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・傷病名は ICD-10 コードと介護保険の特定疾病フラグを持つ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編集距離ベースの照合で1文字違いも拾う（骨粗葵症→骨粗鬆症、慢性裳臓病→慢性腎臓病）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・診療科しか入らない欄には診療科の辞書を当てる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・医療機関は厚生労働省の一覧と突き合わせる（47 都道府県 / 97,399 件 / 2026-09-06 現在）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確認画面では都道府県を選んで検索でき、選ぶと所在地と電話も自動で入る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・辞書で「短くしてしまう」置き換えはしない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『筑波記念病院』が『病院』に、『右大腿骨骨折』が『骨折』に潰れていたのを修正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確認・編集画面の工夫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読み違いを見つけやすく、直しやすくする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・確信度を色で示す（高・中・要確認・修正済み・確定・匿名化）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タグだけでなく背景色にも反映し、元画像の該当箇所にも同じ色を重ねる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・様式と同じ並びで表示する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選択肢の行・列、関連項目のまとまり（褥瘡＝有無＋部位＋程度）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・「確定」（黄緑）と「削除して確定」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記入が無い欄に文字が入った場合を1操作で片付ける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・候補ボタン（辞書・LLM・OCR生読み）と、辞書からの検索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・記述欄は音声入力もできる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ブラウザの音声認識を使うため、初回に確認を出す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・拡大表示は掴んで動かせる／集計は上部に固定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匿名化・操作ログ・利用者の区別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・匿名化加工済みデータ（研究用）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氏名欄が白抜きなら「匿名化済み」。指定すると住所・連絡先も「マスク済み」にし、元の読み取り値ごと捨てる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・操作ログ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読み取り・修正（直す前→直した後）・確定・候補採用・音声入力を記録し、JSON / CSV で保存できる。個人情報の項目は値を残さず文字数だけ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・利用者トークン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同じ端末を複数人が使っても履歴が混ざらないよう、ブラウザごとに発行したトークンで保存先を分ける。共用端末では作業後に消せる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・サイト全体は Basic 認証で保護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トークンは認証ではない、と画面にも明記している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品質チェックで見つけた重大な不具合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「見た目は正しく確信度も高いのに中身が違う」型を、実測で洗い出した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2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5800"/>
                <a:gridCol w="6294120"/>
              </a:tblGrid>
              <a:tr h="39547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見つかった不具合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起きていたこと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定型文フィルタが臨床情報を消す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『認知症』『骨折』『がん』が空になる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病名が別の病名に化ける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『糖尿病』→『糖尿病性腎症』を確信度100%で採用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数字の切り詰め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『2024年』→『20年』→ 西暦2038年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記入が無い欄の拾い読みが素通り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『摂食の留意事項＝い』が確信度0.816（緑）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操作ログに個人情報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ファイル名（氏名を含む）と医療機関名が生で残る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編集ログが別の意見書と混ざる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存在しない訂正が記録される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欄が画像の端に掛かると落ちる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1件まるごと失われる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486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同じ判定を Python とブラウザの両方に持つため、同じ入力で値が一致するかを必ず突き合わせる。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配布のしかた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7312"/>
                <a:gridCol w="3057144"/>
                <a:gridCol w="4855464"/>
              </a:tblGrid>
              <a:tr h="40233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方法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対象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特徴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Web版（サーバに設置）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組織で使う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全機能。Basic認証で保護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Python版（pip）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Rocky / Ubuntu / macOS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大量処理・自動化に向く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Docker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Windows など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OS を問わず同じ環境で動く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単一HTMLファイル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持ち運び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チェック欄のみ（ブラウザの制約でOCRは動かない）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5720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・辞書・テンプレート・様式定義はデータとして分離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新しい様式は管理画面から追加できる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開発の記録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・GitHub の Issue に問題を残している（全 47 件 / 未対応 1 件）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症状・原因・直し方・確認方法をそれぞれに書いている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・WORKLOG.md（作業ログ）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どのコミットでどのファイルを何行いじったか、指示への対応状況の対照表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・DEVNOTES.md（開発メモ）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設計の経緯、試して駄目だった方法、既知の限界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・docs/DEVELOPER.md（技術者向け）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構成、全コマンド、新しい様式の追加手順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これから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・単一HTMLファイル版でのテキストOCR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ブラウザの制約があり、方法を検討中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・読み取り精度の継続的な検証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操作ログの「どこをどれだけ直したか」を精度の指標に使う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・様式が変わったときの追従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テンプレートは管理画面から差し替えられる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・対応済み：医療機関一覧を全国分そろえ、管理画面から更新できるようにした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厚生局ごとに公開の形が違うため、中身を見て判定する方式に作り替えた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760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Masaru Sanuki, University of Tsukuba &amp; Department of Biomedical Informatics, University of Tsukuba Hospital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